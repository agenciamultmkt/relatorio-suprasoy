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289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754880" cy="4754880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-640080"/>
            <a:ext cx="2743200" cy="2743200"/>
          </a:xfrm>
          <a:prstGeom prst="ellipse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/>
        </p:spPr>
        <p:txBody>
          <a:bodyPr/>
          <a:lstStyle/>
          <a:p>
            <a:endParaRPr lang="pt-BR">
              <a:solidFill>
                <a:schemeClr val="accent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-1828800" y="4754880"/>
            <a:ext cx="4206240" cy="4206240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E6394E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×  UAU INGLEZA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Treinamento de Promotores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Merchandising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completo para </a:t>
            </a:r>
            <a:r>
              <a:rPr lang="en-US" sz="1600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</a:t>
            </a: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8100">
            <a:solidFill>
              <a:srgbClr val="E639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1.0  •  Agosto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“Felicidade é estar com você!”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E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APRENDER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do treinamento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9AA9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24688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a UAU Ingleza e a Agência Mult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9AA9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856232"/>
            <a:ext cx="24688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e postura no PDV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9AA9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366760" y="19202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3667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06840" y="1856232"/>
            <a:ext cx="24688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9AA9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6868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502152"/>
            <a:ext cx="24688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— giro de estoque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89120" y="33375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9AA9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617720" y="3566160"/>
            <a:ext cx="502920" cy="5029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61772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3502152"/>
            <a:ext cx="24688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 planograma por categoria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138160" y="33375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9AA9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366760" y="3566160"/>
            <a:ext cx="502920" cy="502920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36676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06840" y="3502152"/>
            <a:ext cx="24688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de estoque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4983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9AA9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868680" y="5212080"/>
            <a:ext cx="502920" cy="502920"/>
          </a:xfrm>
          <a:prstGeom prst="ellipse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6868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08760" y="5148072"/>
            <a:ext cx="24688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 e reposição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389120" y="4983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9AA9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4617720" y="5212080"/>
            <a:ext cx="502920" cy="502920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61772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57800" y="5148072"/>
            <a:ext cx="24688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boas práticas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138160" y="4983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9AA9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8366760" y="5212080"/>
            <a:ext cx="502920" cy="502920"/>
          </a:xfrm>
          <a:prstGeom prst="ellipse">
            <a:avLst/>
          </a:prstGeom>
          <a:solidFill>
            <a:srgbClr val="1428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836676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06840" y="5148072"/>
            <a:ext cx="24688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e contatos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377440"/>
            <a:ext cx="5669280" cy="5669280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966960" y="3383280"/>
            <a:ext cx="3657600" cy="3657600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>
              <a:solidFill>
                <a:schemeClr val="accent2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219456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Conheça a UAU Ingleza e a Agência Mult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entrar na rotina do dia a dia, entenda quem são a marca e a agência que você representa.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“Felicidade é estar com você!”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a UAU Ingleza promete a cada cliente — e você ajuda a cumprir essa promessa todos os dias, na gôndola.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BOAS-VINDAS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agora faz parte desse time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Agência Mult é especialista em trade marketing e atendimento de promotores — contratamos, treinamos e gerenciamos equipes em campo para marcas parceiras.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UAU Ingleza é uma das nossas principais marcas parceiras: fabricante de produtos de limpeza e higiene para o lar, presente em grandes redes de todo o país.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promotor(a) de merchandising, você é a ponta que representa a marca dentro da loja — a gôndola bem cuidada é a primeira impressão do consumidor.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4 divisões estratégicas da UAU Ingleza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9AA9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28016" cy="1965960"/>
          </a:xfrm>
          <a:prstGeom prst="rect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18562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LIMPADORES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Multiuso UAU · Limpeza Perfumada · Limpador de Banheiro · Cloro Ativo · Desengordurantes · Limpeza Pesada · Limpa Vidros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9AA9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128016" cy="1965960"/>
          </a:xfrm>
          <a:prstGeom prst="rect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537960" y="18562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E6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LAVANDERIA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24028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 Roupas Líquido UAU · Amaciante Concentrado UAU · UAU Sem Passar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9AA9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28016" cy="1965960"/>
          </a:xfrm>
          <a:prstGeom prst="rect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60120" y="409651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DESINFETANTES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48056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UAU Antibac · Pinho Trop · Batuta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blurRad="76200" dist="25400" dir="5400000" algn="bl" rotWithShape="0">
              <a:srgbClr val="9AA9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128016" cy="1965960"/>
          </a:xfrm>
          <a:prstGeom prst="rect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537960" y="409651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C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448056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Ceras para Assoalho · Cera Líquida · Lustra Móveis · Tratamento de Piso · Tratamento para Calçados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é a marca dentro da loja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gôndola que você organiza é uma oportunidade de vender mais e encantar o cliente.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se espera de você todos os dias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 e organizar a gôndola seguindo o planograma da marca.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615184"/>
            <a:ext cx="329184" cy="329184"/>
          </a:xfrm>
          <a:prstGeom prst="ellipse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6151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560320"/>
            <a:ext cx="75895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o giro correto de estoque (FIFO) e evitar produtos vencidos na loja.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511296"/>
            <a:ext cx="329184" cy="329184"/>
          </a:xfrm>
          <a:prstGeom prst="ellipse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5112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456432"/>
            <a:ext cx="75895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preços na gôndola e comunicar qualquer divergência.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407408"/>
            <a:ext cx="329184" cy="329184"/>
          </a:xfrm>
          <a:prstGeom prst="ellipse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407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352544"/>
            <a:ext cx="75895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toda a visita no aplicativo TradePRO Promoter, com fotos de antes/depois.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303520"/>
            <a:ext cx="329184" cy="329184"/>
          </a:xfrm>
          <a:prstGeom prst="ellipse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0080" y="5303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5248656"/>
            <a:ext cx="75895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Zelar pela imagem da marca e pelo bom relacionamento com a equipe da loja.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377440"/>
            <a:ext cx="5669280" cy="5669280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966960" y="3383280"/>
            <a:ext cx="3657600" cy="3657600"/>
          </a:xfrm>
          <a:prstGeom prst="ellipse">
            <a:avLst/>
          </a:prstGeom>
          <a:solidFill>
            <a:srgbClr val="1E3A6E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2194560" cy="0"/>
          </a:xfrm>
          <a:prstGeom prst="line">
            <a:avLst/>
          </a:prstGeom>
          <a:noFill/>
          <a:ln w="381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Rotina e Postura no PDV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preparo em casa até o fechamento do roteiro no aplicativo TradePRO Promoter.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Primeira impressão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Uniforme em ordem e apresentação à loja mostram profissionalismo desde o primeiro minuto.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Comece o dia com o pé direito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Uniforme completo e limpo, com crachá visível — é sua identificação dentro da loja.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carregado, com o app TradePRO Promoter instalado e as permissões ativas.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o roteiro do dia e o horário previsto de chegada em cada loja.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chegar, procure a gerência ou o fiscal de loja e informe que está iniciando o atendimento antes de começar a reposição.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permissão, sem atendimento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e localização liberadas são pré-requisito para bater ponto e enviar fotos das atividades.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TRABALHO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TradePRO Promoter: baixe, acesse e libere as permissões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Baixe o app “TradePRO Promoter” (ícone azul com o símbolo “P”) na Play Store ou App Store.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primeiro acesso, vincule seu telefone com o número cadastrado na empresa — em dúvida, fale com sua coordenadora antes de prosseguir.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Autorize Câmera e Localização: sem essas permissões o app não funciona corretamente.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Ajustes do celular → Apps → TradePRO Promoter → Permissões, confirme que a Localização está em “Permitir o tempo todo”, não só “durante o uso”.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 de fachada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ela, o roteiro não avança — é o primeiro passo de todo atendimento.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ROTEIRO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Receba a carga e inicie a loja certa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menu, toque em Carga e depois em Receber carga — faça isso sempre no início do expediente, antes de ir para a loja.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tela de Roteiros, localize sua loja nas abas Hoje / Aberto / Execução / Finalizado.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na loja e depois no botão verde Iniciar.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câmera abre automaticamente pedindo a foto de fachada: ela é obrigatória e libera a execução das atividades.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e depois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foto de “depois” é o seu principal comprovante de trabalho — capriche no enquadramento.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Reponha, organize e fotografe cada etapa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roteiro, acesse Atividades, selecione o cliente UAU Ingleza e a categoria que vai abastecer.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Reponha e organize a gôndola seguindo o planograma daquela categoria (veja o Módulo 5).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 a foto de “depois” da gôndola já reposta e organizada — pode enviar quantas fotos forem necessárias.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percentual ao lado de cada categoria mostra quanto do roteiro já foi concluído.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marcações por dia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Entrada, saída para o almoço, retorno e saída final — todas registradas pelo app.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ponto e intervalo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Registro Ponto no menu e registre na ordem: Entrada → Saída (almoço) → Entrada (retorno) → Saída (fim do expediente).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intervalo, o app fica bloqueado automaticamente pelo tempo configurado — isso é normal, aguarde o horário passar.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do dia, confira o Saldo de horas antes de sair da loja.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negativo (em vermelho) indica horas faltantes em relação ao previsto — fique atento.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Feche com atenção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roteiro bem concluído garante que seu trabalho do dia seja corretamente contabilizado.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Concluindo o atendimento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se todas as atividades e categorias previstas foram realizadas.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no botão amarelo Concluir para encerrar o atendimento naquela loja.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o uso do horário de conclusão como sua 2ª saída de ponto, quando o app perguntar (recomendado).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loja passa então para o status “Finalizado enviado” na sua lista de roteiros.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Registre sempre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roteiro não visitado e não justificado gera dúvidas e problemas para toda a equipe.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EXTRAS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sempre tudo sai como planejado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Adicionar roteiro quando precisar criar um atendimento que não veio na carga do dia.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Justificar roteiro quando não for possível visitar a loja prevista.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justificar, selecione o motivo, anexe um arquivo se precisar (foto, PDF, planilha) e descreva rapidamente o ocorrido.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simplesmente deixe de visitar uma loja sem registrar nada — sempre justifique pelo app.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377440"/>
            <a:ext cx="5669280" cy="5669280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966960" y="3383280"/>
            <a:ext cx="3657600" cy="3657600"/>
          </a:xfrm>
          <a:prstGeom prst="ellipse">
            <a:avLst/>
          </a:prstGeom>
          <a:solidFill>
            <a:srgbClr val="E8A33D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21945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Precificação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o preço na gôndola também é parte do seu trabalho como promotor(a).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é o elo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a marca e a gôndola — o primeiro ponto de checagem antes que o preço chegue ao consumidor.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Preço errado é venda perdida e cliente insatisfeito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divergente na gôndola gera reclamação do cliente no caixa e prejudica a imagem da marca.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promocionados sem a sinalização correta perdem a força da oferta e vendem menos.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na loja todos os dias — é quem está mais bem posicionado(a) para identificar o problema antes que ele afete o cliente.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Checagem de rotina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a conferência de preços como parte natural da sua reposição, não como uma tarefa à parte.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verificar preços na gôndola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 preço exibido na etiqueta/prateleira com a tabela ou comunicação oficial da promoção vigente.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que cada SKU tem sua etiqueta correspondente, sem trocas ou etiquetas faltando.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os itens promocionados têm a sinalização de oferta correta (cartaz, faixa, plaquinha).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a checagem nos itens “abre categoria” e nos de maior giro (ex.: Multiuso UAU Lavanda).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decida sozinho(a)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 de preço é sempre resolvida em conjunto com a loja e sua coordenação.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ALGO NÃO BATE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Identificou um preço errado? Aja assim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altere preços por conta própria — o ajuste é sempre feito pela loja.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Comunique imediatamente ao setor responsável da loja (gerência, precificação ou fiscal).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a ocorrência e informe sua coordenação.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possível, confirme a correção antes de finalizar o atendimento naquele setor.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377440"/>
            <a:ext cx="5669280" cy="5669280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966960" y="3383280"/>
            <a:ext cx="3657600" cy="3657600"/>
          </a:xfrm>
          <a:prstGeom prst="ellipse">
            <a:avLst/>
          </a:prstGeom>
          <a:solidFill>
            <a:srgbClr val="1E6FC7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E6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2194560" cy="0"/>
          </a:xfrm>
          <a:prstGeom prst="line">
            <a:avLst/>
          </a:prstGeom>
          <a:noFill/>
          <a:ln w="38100">
            <a:solidFill>
              <a:srgbClr val="1E6F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FIFO — Giro de Estoque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Out: a regra mais simples e mais importante do seu dia a dia.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 — “o primeiro que entra é o primeiro que sai”.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primeiro que entra é o primeiro que sai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garante que os produtos com fabricação/validade mais antiga sejam vendidos primeiro.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FIFO, produtos antigos ficam parados no fundo da gôndola e podem vencer ou ter a embalagem danificada.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vencido ou danificado na prateleira é prejuízo direto para a marca e para a loja.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 FIFO é uma das tarefas mais simples — e mais importantes — da sua rotina.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 = mais antigo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regra vale tanto na gôndola quanto no estoque da loja.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aplicar o FIFO na prática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repor, retire todos os produtos da frente da gôndola antes de colocar os novos.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 os produtos mais antigos (fabricação/validade mais próxima) na frente, para saírem primeiro.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 os produtos novos atrás, sempre seguindo essa lógica de rodízio.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 a mesma lógica dentro do estoque da loja: unidades antigas na frente/em cima, novas atrás/embaixo.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 de 2 minutos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sair, dê uma última olhada na validade dos produtos da frente da gôndola.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6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FIQUE ATENTO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rápido e erros comuns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empilhar caixas novas na frente “porque é mais rápido” — sempre organize por data.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repor sem checar a validade, só olhando se o produto “cabe” na prateleira.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prática: ao encontrar produto próximo do vencimento, avise a coordenação e priorize a exposição dele.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prática: confira a validade também dos produtos já expostos, não só dos que estão chegando.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377440"/>
            <a:ext cx="5669280" cy="5669280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966960" y="3383280"/>
            <a:ext cx="3657600" cy="3657600"/>
          </a:xfrm>
          <a:prstGeom prst="ellipse">
            <a:avLst/>
          </a:prstGeom>
          <a:solidFill>
            <a:srgbClr val="C41E63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C4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2194560" cy="0"/>
          </a:xfrm>
          <a:prstGeom prst="line">
            <a:avLst/>
          </a:prstGeom>
          <a:noFill/>
          <a:ln w="38100">
            <a:solidFill>
              <a:srgbClr val="C41E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e Planograma por Categoria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oficial da gôndola UAU Ingleza — categoria por categoria.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Planograma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documento que define a posição, quantidade e organização de cada produto na gôndola.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planograma é o mapa oficial da gôndola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exatamente onde cada produto fica, quantas frentes cada um recebe e ao lado de quais concorrentes.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critérios de giro, estratégia de categoria e regras negociadas com cada rede.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Gôndola fora do planograma prejudica a visibilidade da marca e o desempenho de vendas.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consulte o planograma mais atual (disponível no app, em Planogramas) antes de reorganizar uma categoria.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regras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valem para praticamente todas as categorias do portfólio UAU Ingleza.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GERAIS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regras de ouro que se repetem em quase todo o portfólio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promocionados sempre à frente dos produtos regulares.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615184"/>
            <a:ext cx="329184" cy="329184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6151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560320"/>
            <a:ext cx="75895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líderes/lançamento recebem o dobro de frentes das demais variações da linha.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511296"/>
            <a:ext cx="329184" cy="329184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5112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456432"/>
            <a:ext cx="75895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UAU é sempre posicionado ao lado (geralmente à direita) do principal concorrente da categoria.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407408"/>
            <a:ext cx="329184" cy="329184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407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352544"/>
            <a:ext cx="75895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Embalagens menores e de maior giro ficam na altura dos olhos e do alcance das mãos; embalagens maiores, na parte inferior.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303520"/>
            <a:ext cx="329184" cy="329184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0080" y="5303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5248656"/>
            <a:ext cx="75895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separe as “famílias” de produtos (mesma linha ou fragrância) dentro da gôndola.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PLANOGRAMA  ·  CATEGORIA 1 DE 10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21792" y="749808"/>
            <a:ext cx="2944368" cy="502920"/>
          </a:xfrm>
          <a:prstGeom prst="roundRect">
            <a:avLst>
              <a:gd name="adj" fmla="val 50909"/>
            </a:avLst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2944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Multiuso UAU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Produtos:  Lavanda · Rosas e Sedução · Chá Branco · Limão Siciliano · linha Funcionais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 DE EXECUÇÃO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74320" cy="2743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340864"/>
            <a:ext cx="10424160" cy="7658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comece a exposição pelo Multiuso UAU Lavanda — ele abre a categoria.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61538"/>
            <a:ext cx="274320" cy="2743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316153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106674"/>
            <a:ext cx="10424160" cy="7658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Rosas e Sedução e Chá Branco devem ter a mesma quantidade de frentes do Lavanda (ou do concorrente líder, se estiver sozinho na gôndola).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27348"/>
            <a:ext cx="274320" cy="2743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9273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872484"/>
            <a:ext cx="10424160" cy="7658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Lavanda + Perfumados devem representar 70% da gôndola; Funcionais, 30%.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693158"/>
            <a:ext cx="274320" cy="2743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" y="469315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4638294"/>
            <a:ext cx="10424160" cy="7658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Fique atento às classificações do portfólio na hora da execução e nunca separe as famílias de produtos.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C41E63">
              <a:alpha val="10000"/>
            </a:srgbClr>
          </a:solidFill>
          <a:ln w="12700">
            <a:solidFill>
              <a:srgbClr val="C41E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CROSS-MERCHANDISING:  </a:t>
            </a:r>
            <a:r>
              <a:rPr lang="en-US" sz="12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Multiuso Eliminador de Odores junto à área de Pet · Limão Siciliano junto à área de Detergentes.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PLANOGRAMA  ·  CATEGORIA 2 DE 10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21792" y="749808"/>
            <a:ext cx="6158484" cy="502920"/>
          </a:xfrm>
          <a:prstGeom prst="roundRect">
            <a:avLst>
              <a:gd name="adj" fmla="val 50909"/>
            </a:avLst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61584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Limpador Perfumado UAU Perfumes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Produtos:  Lavanda e Conforto · Chá Branco · Flores Vermelhas — embalagens 500ml, 1L e 1,8L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 DE EXECUÇÃO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74320" cy="2743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34086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destaque sempre para o Limpador Perfumado Lavanda e Conforto.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274320" cy="2743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3355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30098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Lavanda e Conforto, Flores Vermelhas e Chá Branco sempre com o dobro de frentes das demais fragrâncias.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15968"/>
            <a:ext cx="274320" cy="2743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4315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6110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sempre à direita de Casa &amp; Perfume; itens promocionados na frente dos produtos regulares.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C41E63">
              <a:alpha val="10000"/>
            </a:srgbClr>
          </a:solidFill>
          <a:ln w="12700">
            <a:solidFill>
              <a:srgbClr val="C41E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CROSS-MERCHANDISING:  </a:t>
            </a:r>
            <a:r>
              <a:rPr lang="en-US" sz="12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Multiuso Chá Branco em destaque junto ao Limpador Perfumado Chá Branco e à área de Aromatizantes.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PLANOGRAMA  ·  CATEGORIA 3 DE 10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21792" y="749808"/>
            <a:ext cx="4297680" cy="502920"/>
          </a:xfrm>
          <a:prstGeom prst="roundRect">
            <a:avLst>
              <a:gd name="adj" fmla="val 50909"/>
            </a:avLst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Limpador de Banheiro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Produtos:  Cloro Ativo Squeeze 5+ · Gatilho e Refil · Banheiro 7 em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 DE EXECUÇÃO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74320" cy="2743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340864"/>
            <a:ext cx="10424160" cy="7658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destaque sempre para o Cloro Ativo Squeeze 5+.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61538"/>
            <a:ext cx="274320" cy="2743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316153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106674"/>
            <a:ext cx="10424160" cy="7658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Gatilho e Refil na parte superior da gôndola.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27348"/>
            <a:ext cx="274320" cy="2743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9273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872484"/>
            <a:ext cx="10424160" cy="7658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modular misto de marcas, posicionar UAU sempre ao lado do principal concorrente (ex.: Veja).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693158"/>
            <a:ext cx="274320" cy="2743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" y="469315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4638294"/>
            <a:ext cx="10424160" cy="7658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as versões com Cloro, seguidas das demais versões; embalagens de 500ml na parte superior.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C41E63">
              <a:alpha val="10000"/>
            </a:srgbClr>
          </a:solidFill>
          <a:ln w="12700">
            <a:solidFill>
              <a:srgbClr val="C41E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CROSS-MERCHANDISING:  </a:t>
            </a:r>
            <a:r>
              <a:rPr lang="en-US" sz="12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Cloro Ativo Squeeze 5+ também exposto junto à área de materiais de limpeza (rodos, panos, baldes).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PLANOGRAMA  ·  CATEGORIA 4 DE 10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21792" y="749808"/>
            <a:ext cx="3621024" cy="502920"/>
          </a:xfrm>
          <a:prstGeom prst="roundRect">
            <a:avLst>
              <a:gd name="adj" fmla="val 50909"/>
            </a:avLst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3621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Desengordurantes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Produtos:  Desengordurante Squeeze Limão · Desengordurante Gatilho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 DE EXECUÇÃO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74320" cy="2743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34086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Desengordurante Squeeze Limão com mais frentes que as demais versões.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274320" cy="2743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3355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30098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Desengordurante Gatilho sempre exposto na primeira prateleira.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15968"/>
            <a:ext cx="274320" cy="274320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4315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6110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gôndola, manter sempre 50% de frentes em relação ao principal concorrente.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C41E63">
              <a:alpha val="10000"/>
            </a:srgbClr>
          </a:solidFill>
          <a:ln w="12700">
            <a:solidFill>
              <a:srgbClr val="C41E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LEMBRETE:  </a:t>
            </a:r>
            <a:r>
              <a:rPr lang="en-US" sz="12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também as 5 regras de ouro do início deste módulo — itens promocionados à frente, famílias completas e UAU sempre ao lado do concorrente líder.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PLANOGRAMA  ·  CATEGORIA 5 DE 10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21792" y="749808"/>
            <a:ext cx="4974336" cy="502920"/>
          </a:xfrm>
          <a:prstGeom prst="roundRect">
            <a:avLst>
              <a:gd name="adj" fmla="val 50909"/>
            </a:avLst>
          </a:prstGeom>
          <a:solidFill>
            <a:srgbClr val="D98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Desinfetante UAU Antibac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Produtos:  Antibac Flores e Frutas Vermelhas · Lavanda e Rosas · demais fragrâncias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 DE EXECUÇÃO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74320" cy="274320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34086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o desinfetante UAU Antibac sempre ao lado do produto equivalente do concorrente direto.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274320" cy="274320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3355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30098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destaques para as versões Flores e Frutas Vermelhas e Lavanda e Rosas, por possuírem maior giro.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D98A2B">
              <a:alpha val="10000"/>
            </a:srgbClr>
          </a:solidFill>
          <a:ln w="12700">
            <a:solidFill>
              <a:srgbClr val="D98A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LEMBRETE:  </a:t>
            </a:r>
            <a:r>
              <a:rPr lang="en-US" sz="12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também as 5 regras de ouro do início deste módulo — itens promocionados à frente, famílias completas e UAU sempre ao lado do concorrente líder.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PLANOGRAMA  ·  CATEGORIA 6 DE 10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21792" y="749808"/>
            <a:ext cx="4636008" cy="502920"/>
          </a:xfrm>
          <a:prstGeom prst="roundRect">
            <a:avLst>
              <a:gd name="adj" fmla="val 50909"/>
            </a:avLst>
          </a:prstGeom>
          <a:solidFill>
            <a:srgbClr val="D98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4636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Pinho UAU / Pinho Trop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Produtos:  Desinfetante Pinho UAU · Pinho Trop (linha Antibac)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 DE EXECUÇÃO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74320" cy="274320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34086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o desinfetante Pinho UAU ao lado do Pinho Bril ou Pinho Sol.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274320" cy="274320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3355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30098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destaque sempre para a versão Pinho.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15968"/>
            <a:ext cx="274320" cy="274320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4315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6110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Embalagens de 500ml na parte superior da gôndola.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D98A2B">
              <a:alpha val="10000"/>
            </a:srgbClr>
          </a:solidFill>
          <a:ln w="12700">
            <a:solidFill>
              <a:srgbClr val="D98A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LEMBRETE:  </a:t>
            </a:r>
            <a:r>
              <a:rPr lang="en-US" sz="12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também as 5 regras de ouro do início deste módulo — itens promocionados à frente, famílias completas e UAU sempre ao lado do concorrente líder.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PLANOGRAMA  ·  CATEGORIA 7 DE 10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21792" y="749808"/>
            <a:ext cx="4805172" cy="502920"/>
          </a:xfrm>
          <a:prstGeom prst="roundRect">
            <a:avLst>
              <a:gd name="adj" fmla="val 50909"/>
            </a:avLst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48051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Lava Roupas Líquido UAU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Produtos:  UAU Active (Performance) · Lançamentos Coco &amp; Vanilla · UAU Perfumes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 DE EXECUÇÃO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74320" cy="274320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34086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a exposição da embalagem de 3L na altura dos olhos e alcance das mãos — é a versão de maior giro.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274320" cy="274320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3355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30098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 o Lava Roupas UAU sempre à direita de OMO.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15968"/>
            <a:ext cx="274320" cy="274320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4315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6110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maiores (5L) sempre na parte inferior da gôndola; lançamentos, na parte superior.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1E6FC7">
              <a:alpha val="10000"/>
            </a:srgbClr>
          </a:solidFill>
          <a:ln w="12700">
            <a:solidFill>
              <a:srgbClr val="1E6F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6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CROSS-MERCHANDISING:  </a:t>
            </a:r>
            <a:r>
              <a:rPr lang="en-US" sz="12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junto à área de Roupas de Cama, Mesa e Banho da loja.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PLANOGRAMA  ·  CATEGORIA 8 DE 10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21792" y="749808"/>
            <a:ext cx="6665976" cy="502920"/>
          </a:xfrm>
          <a:prstGeom prst="roundRect">
            <a:avLst>
              <a:gd name="adj" fmla="val 50909"/>
            </a:avLst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6665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Amaciante Concentrado UAU Perfumes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Produtos:  Perfume Intenso · Chá Branco · Lavanda &amp; Frescor — embalagens 500ml e 1L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 DE EXECUÇÃO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74320" cy="274320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34086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a exposição da embalagem de 500ml na altura dos olhos e alcance das mãos — é a versão de maior giro.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274320" cy="274320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3355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30098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 o Amaciante Concentrado UAU sempre à direita de Downy.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15968"/>
            <a:ext cx="274320" cy="274320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4315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6110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maiores (1L) sempre na parte inferior da gôndola.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1E6FC7">
              <a:alpha val="10000"/>
            </a:srgbClr>
          </a:solidFill>
          <a:ln w="12700">
            <a:solidFill>
              <a:srgbClr val="1E6F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6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CROSS-MERCHANDISING:  </a:t>
            </a:r>
            <a:r>
              <a:rPr lang="en-US" sz="12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junto à área de Roupas de Cama, Mesa e Banho da loja.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PLANOGRAMA  ·  CATEGORIA 9 DE 10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21792" y="749808"/>
            <a:ext cx="4297680" cy="502920"/>
          </a:xfrm>
          <a:prstGeom prst="roundRect">
            <a:avLst>
              <a:gd name="adj" fmla="val 50909"/>
            </a:avLst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Essência Concentrada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Produtos:  Chá Branco · Flor de Algodão · Talco · Colônia Intensa · Lavanda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 DE EXECUÇÃO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74320" cy="274320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34086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garantir mais frentes para a Essência Concentrada Chá Branco.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274320" cy="274320"/>
          </a:xfrm>
          <a:prstGeom prst="ellipse">
            <a:avLst/>
          </a:prstGeom>
          <a:solidFill>
            <a:srgbClr val="1E6F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3355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30098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sempre ao lado direito do concorrente direto (Coala).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1E6FC7">
              <a:alpha val="10000"/>
            </a:srgbClr>
          </a:solidFill>
          <a:ln w="12700">
            <a:solidFill>
              <a:srgbClr val="1E6FC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6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DE CROSS-MERCHANDISING:  </a:t>
            </a:r>
            <a:r>
              <a:rPr lang="en-US" sz="12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a Essência Concentrada junto à área de Aromatizantes da loja.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PLANOGRAMA  ·  CATEGORIA 10 DE 10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21792" y="749808"/>
            <a:ext cx="6496812" cy="502920"/>
          </a:xfrm>
          <a:prstGeom prst="roundRect">
            <a:avLst>
              <a:gd name="adj" fmla="val 50909"/>
            </a:avLst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64968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Care — Pisos, Ceras e Móveis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Produtos:  Limpa Pisos (Cerâmicas, Laminados, Maderas, Clarificadora) · Cera Ingleza Maxx · Cera em pasta · Lustra Móveis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 DE EXECUÇÃO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74320" cy="274320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34086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Limpa Pisos, sempre o dobro de frentes para as versões Porcelanato e Chá Branco, por possuírem maior giro.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55848"/>
            <a:ext cx="274320" cy="274320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3355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30098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planograma de Ceras, sempre iniciar a exposição pela linha Ingleza Maxx; ceras em pasta na parte inferior da gôndola.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15968"/>
            <a:ext cx="274320" cy="274320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4315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6110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Lustra Móveis, dobro de frentes para a versão Rosas e Sedução; posicionar sempre ao lado de Poliflor.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5C9A3B">
              <a:alpha val="10000"/>
            </a:srgbClr>
          </a:solidFill>
          <a:ln w="12700">
            <a:solidFill>
              <a:srgbClr val="5C9A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5C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LEMBRETE:  </a:t>
            </a:r>
            <a:r>
              <a:rPr lang="en-US" sz="12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também as 5 regras de ouro do início deste módulo — itens promocionados à frente, famílias completas e UAU sempre ao lado do concorrente líder.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Planograma sempre em mãos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a área Planogramas do app TradePRO Promoter sempre que tiver dúvida.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4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MÓDULO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 de layout para levar com você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77240" y="1837944"/>
            <a:ext cx="82296" cy="82296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confira o planograma vigente da categoria antes de reorganizar a gôndola.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2889504"/>
            <a:ext cx="82296" cy="82296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podem variar um pouco de loja para loja ou de rede para rede — na dúvida, pergunte à sua coordenação.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3941064"/>
            <a:ext cx="82296" cy="82296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cross-merchandising aumenta a visibilidade da marca sem tirar espaço da gôndola principal da concorrência.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4992624"/>
            <a:ext cx="82296" cy="82296"/>
          </a:xfrm>
          <a:prstGeom prst="ellipse">
            <a:avLst/>
          </a:prstGeom>
          <a:solidFill>
            <a:srgbClr val="C41E6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planograma bem executado é a forma mais direta de aumentar as vendas da categoria.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377440"/>
            <a:ext cx="5669280" cy="5669280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966960" y="3383280"/>
            <a:ext cx="3657600" cy="3657600"/>
          </a:xfrm>
          <a:prstGeom prst="ellipse">
            <a:avLst/>
          </a:prstGeom>
          <a:solidFill>
            <a:srgbClr val="5C9A3B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5C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2194560" cy="0"/>
          </a:xfrm>
          <a:prstGeom prst="line">
            <a:avLst/>
          </a:prstGeom>
          <a:noFill/>
          <a:ln w="38100">
            <a:solidFill>
              <a:srgbClr val="5C9A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de Estoque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recebimento da mercadoria até a reposição na gôndola.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Confira antes de guardar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mais fácil resolver um problema na chegada do que depois que o produto já está no estoque.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Recebimento e conferência de mercadoria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se a quantidade recebida bate com a nota ou lista de reposição.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as embalagens chegaram íntegras, sem avarias ou vazamentos.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imediatamente produtos danificados e comunique a loja e sua coordenação.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qualquer divergência antes de guardar a mercadoria no estoque.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Estoque organizado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reposição mais rápida no dia seguinte — e menos risco de acidentes.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armazenar corretamente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por categoria e por data de fabricação/validade — a regra do FIFO também vale dentro do estoque.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Empilhe com cuidado, sem exceder a altura recomendada, para não danificar as embalagens.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os produtos longe de umidade, calor excessivo e luz solar direta.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Deixe os corredores de acesso livres — estoque organizado também é estoque mais seguro.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 do dia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 o estoque organizado facilita o trabalho de quem vier atender a loja depois de você.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estoque para a gôndola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retire primeiro os produtos mais antigos do estoque, seguindo o FIFO.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para a gôndola apenas a quantidade necessária para repor os espaços vazios.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repor, reorganize o estoque, mantendo a identificação visível dos produtos restantes.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5C9A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sempre com a área de estoque limpa e organizada, pronta para a próxima visita.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377440"/>
            <a:ext cx="5669280" cy="5669280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966960" y="3383280"/>
            <a:ext cx="3657600" cy="3657600"/>
          </a:xfrm>
          <a:prstGeom prst="ellipse">
            <a:avLst/>
          </a:prstGeom>
          <a:solidFill>
            <a:srgbClr val="E6394E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E63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2194560" cy="0"/>
          </a:xfrm>
          <a:prstGeom prst="line">
            <a:avLst/>
          </a:prstGeom>
          <a:noFill/>
          <a:ln w="38100">
            <a:solidFill>
              <a:srgbClr val="E639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Ruptura e Reposição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gôndola vazia é uma venda que já foi para o concorrente.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ruptura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cliente que sai da loja levando o produto do concorrente.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ruptura e por que ela dói tanto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 é quando o produto não está disponível na gôndola no momento em que o cliente quer comprar.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ruptura é uma venda perdida — tanto para a loja quanto para a marca.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Rupturas frequentes também afetam a negociação de espaço da marca dentro da rede.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Ronda constante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passada rápida pela gôndola a cada hora evita boa parte das rupturas do dia.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identificar e prevenir ruptura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rondas periódicas pela gôndola durante todo o atendimento, não só no início.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Fique atento aos itens de maior giro — eles costumam romper primeiro.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há estoque disponível na loja antes de sair, mesmo que não caiba tudo na gôndola agora.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Comunique à loja quando o estoque de determinado item estiver baixo ou zerado.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Reposição contínua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só no início do atendimento — é uma atenção o dia inteiro.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Reposição contínua e prioridades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Reponha ao longo de toda a visita — não deixe a reposição só para o início do atendimento.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itens promocionados e de maior giro (ex.: Multiuso Lavanda, Lava Roupas 3L).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sempre o FIFO também na reposição de itens em ruptura.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E63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no relatório da visita os itens que romperam e o motivo, quando souber.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377440"/>
            <a:ext cx="5669280" cy="5669280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966960" y="3383280"/>
            <a:ext cx="3657600" cy="3657600"/>
          </a:xfrm>
          <a:prstGeom prst="ellipse">
            <a:avLst/>
          </a:prstGeom>
          <a:solidFill>
            <a:srgbClr val="5B6472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2194560" cy="0"/>
          </a:xfrm>
          <a:prstGeom prst="line">
            <a:avLst/>
          </a:prstGeom>
          <a:noFill/>
          <a:ln w="3810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 Boas Práticas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de você é parte do trabalho — não só cuidar da gôndola.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em primeiro lugar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 sobre um produto danificado, sempre pare e comunique — nunca arrisque.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MANUSEIO DE PRODUTOS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Manuseio seguro de produtos de limpeza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de limpeza podem conter substâncias corrosivas ou irritantes — manuseie sempre com cuidado.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abra, misture ou teste produtos dentro da loja.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caso de vazamento ou embalagem danificada, isole o produto e avise a loja e sua coordenação.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 as mãos após o manuseio de produtos derramados ou danificados.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Cuide do seu corpo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cuidados na postura evitam lesões e garantem sua saúde a longo prazo.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ERGONOMIA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Postura e ergonomia no dia a dia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levantar caixas, dobre os joelhos e mantenha a coluna reta — evite torções.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carrinho ou equipamento da loja para transportar grandes volumes.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subir em prateleiras ou superfícies instáveis para alcançar itens altos — peça ajuda ou use escada apropriada.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pequenas pausas se sentir desconforto físico prolongado durante o atendimento.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representa duas marcas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UAU Ingleza e a Agência Mult — sua conduta reflete diretamente nas duas.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da loja e conduta profissional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329184" cy="32918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sempre as normas internas da rede/loja onde está atuando (uso de crachá, horários, áreas restritas).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329184" cy="32918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uma postura respeitosa com a equipe da loja e com os clientes.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uso de celular para assuntos pessoais e conversas longas fora do escopo do trabalho durante o atendimento.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329184" cy="32918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873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81888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imprevisto ou conflito na loja deve ser reportado imediatamente à sua coordenação.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SAIR DA LOJA, CONFIRA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do atendimento perfeito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9050">
            <a:solidFill>
              <a:srgbClr val="1E90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51560" y="168249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Uniforme e crachá em dia, permissões do app liberadas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500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9050">
            <a:solidFill>
              <a:srgbClr val="1E90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51560" y="224942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registrado e foto de fachada enviada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1693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9050">
            <a:solidFill>
              <a:srgbClr val="1E90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51560" y="28163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Gôndola reposta seguindo o planograma da categoria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4838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9050">
            <a:solidFill>
              <a:srgbClr val="1E90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51560" y="33832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aplicado na gôndola e no estoque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5079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9050">
            <a:solidFill>
              <a:srgbClr val="1E90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51560" y="395020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conferidos e divergências comunicadas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17830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9050">
            <a:solidFill>
              <a:srgbClr val="1E90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903720" y="168249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Rupturas identificadas e repostas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23500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9050">
            <a:solidFill>
              <a:srgbClr val="1E90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903720" y="224942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“depois” enviadas para cada categoria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291693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9050">
            <a:solidFill>
              <a:srgbClr val="1E90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903720" y="28163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registrado corretamente (entrada, intervalo, saída)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348386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9050">
            <a:solidFill>
              <a:srgbClr val="1E90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903720" y="33832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concluído no aplicativo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784080" y="822960"/>
            <a:ext cx="2377440" cy="23774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561320" y="4206240"/>
            <a:ext cx="1554480" cy="1554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35440" y="2743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Estamos aqui para te apoiar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39319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pergunta é pequena demais quando o assunto é fazer o atendimento certo.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74980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Dúvidas? Fale com a gente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777240" y="1837944"/>
            <a:ext cx="82296" cy="82296"/>
          </a:xfrm>
          <a:prstGeom prst="ellipse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43000" y="166420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sempre com sua coordenadora para dúvidas sobre roteiro, produtos ou uso do aplicativo.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2889504"/>
            <a:ext cx="82296" cy="82296"/>
          </a:xfrm>
          <a:prstGeom prst="ellipse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43000" y="271576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TradePRO Promoter (suporte do aplicativo): (21) 99117-3579.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3941064"/>
            <a:ext cx="82296" cy="82296"/>
          </a:xfrm>
          <a:prstGeom prst="ellipse">
            <a:avLst/>
          </a:prstGeom>
          <a:solidFill>
            <a:srgbClr val="1E90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143000" y="3767328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8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caso de dúvida sobre preço, planograma ou estoque, nunca decida sozinho(a) — comunique antes de agir.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UAU INGLEZA  •  TREINAMENTO DE PROMOTORES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961120" y="3200400"/>
            <a:ext cx="5943600" cy="5943600"/>
          </a:xfrm>
          <a:prstGeom prst="ellipse">
            <a:avLst/>
          </a:prstGeom>
          <a:solidFill>
            <a:srgbClr val="1E3A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966960" y="4206240"/>
            <a:ext cx="3657600" cy="3657600"/>
          </a:xfrm>
          <a:prstGeom prst="ellipse">
            <a:avLst/>
          </a:prstGeom>
          <a:solidFill>
            <a:srgbClr val="E6394E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Seja muito bem-vindo(a) ao time!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juntos entregar a melhor experiência em cada gôndola — a marca UAU Ingleza conta com você.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8100">
            <a:solidFill>
              <a:srgbClr val="E639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9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“Felicidade é estar com você!”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×  UAU INGLEZA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4765</Words>
  <Application>Microsoft Office PowerPoint</Application>
  <PresentationFormat>Widescreen</PresentationFormat>
  <Paragraphs>659</Paragraphs>
  <Slides>51</Slides>
  <Notes>51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55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Agência Mult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Treinamento de Promotores de Merchandising — UAU Ingleza</dc:title>
  <dc:subject>PptxGenJS Presentation</dc:subject>
  <dc:creator>Agência Mult</dc:creator>
  <cp:lastModifiedBy>Andreza Souza</cp:lastModifiedBy>
  <cp:revision>2</cp:revision>
  <dcterms:created xsi:type="dcterms:W3CDTF">2026-08-17T16:12:28Z</dcterms:created>
  <dcterms:modified xsi:type="dcterms:W3CDTF">2026-08-17T18:29:31Z</dcterms:modified>
</cp:coreProperties>
</file>